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5RbjXglKtxtFjoGBUhUEQIXpI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6537c522a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6537c522a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86537c522a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537c522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6537c522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6537c522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6537c522a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6537c522a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6537c522a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537c522a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537c522a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6537c522a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6537c522a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6537c522a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6537c522a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6537c522a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6537c522a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6537c522a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6537c522a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6537c522a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86537c522a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42900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Digital Image Watermarking: Embedding and Extraction Techniques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Group-3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Project-8 Pixels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516375" y="460118"/>
            <a:ext cx="10515600" cy="12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Introduction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45650" y="183791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Multimedia sharing increasing → need for image protection.</a:t>
            </a:r>
            <a:b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watermarking hides information inside an image.</a:t>
            </a:r>
            <a:b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ownership proof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Watermark must be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invisible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mid-sem, we studied and implemented the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LSB spatial domain method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reviewed literature on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DCT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DWT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frequency-domain watermarking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34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3" y="-291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Work done before Mid Sem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587377" y="103386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Gained clear understanding of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why watermarking is needed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LSB watermark embedding and extraction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successfully.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Verified that image quality stays almost unchanged.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Learned that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DCT &amp; DWT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give better robustness compared to LSB.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Work up to mid-sem proved watermarking is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feasible and effective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Set the direction for post-mid-sem work → DCT/DWT implementation &amp; comparison.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 </a:t>
            </a:r>
            <a:endParaRPr sz="36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3600"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537c522a_0_15"/>
          <p:cNvSpPr txBox="1"/>
          <p:nvPr>
            <p:ph type="title"/>
          </p:nvPr>
        </p:nvSpPr>
        <p:spPr>
          <a:xfrm>
            <a:off x="582428" y="-47035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Methodology</a:t>
            </a:r>
            <a:endParaRPr/>
          </a:p>
        </p:txBody>
      </p:sp>
      <p:sp>
        <p:nvSpPr>
          <p:cNvPr id="111" name="Google Shape;111;g386537c522a_0_15"/>
          <p:cNvSpPr txBox="1"/>
          <p:nvPr>
            <p:ph idx="1" type="body"/>
          </p:nvPr>
        </p:nvSpPr>
        <p:spPr>
          <a:xfrm>
            <a:off x="685750" y="942375"/>
            <a:ext cx="10515600" cy="518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Data-set generation: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5 cover image, 5 watermarks -&gt; 25 watermarked image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6537c522a_0_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13" name="Google Shape;113;g386537c522a_0_15"/>
          <p:cNvSpPr txBox="1"/>
          <p:nvPr>
            <p:ph idx="1" type="body"/>
          </p:nvPr>
        </p:nvSpPr>
        <p:spPr>
          <a:xfrm>
            <a:off x="489425" y="2308825"/>
            <a:ext cx="5194800" cy="518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arenR"/>
            </a:pPr>
            <a:r>
              <a:rPr lang="en-US"/>
              <a:t>Converted each cover into 8×8 blocks for frequency-domain processing.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-US"/>
              <a:t>Applied DCT on each block and embedded watermark bits into selected mid-frequency coefficients.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-US"/>
              <a:t>Generated a complete watermarked image dataset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6537c522a_0_15"/>
          <p:cNvSpPr txBox="1"/>
          <p:nvPr/>
        </p:nvSpPr>
        <p:spPr>
          <a:xfrm>
            <a:off x="6652650" y="2308825"/>
            <a:ext cx="4856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AutoNum type="arabicParenR"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 extraction, processed only the watermarked images (blind watermarking).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AutoNum type="arabicParenR"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Applied DCT again and recovered bits based on coefficient sign changes.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AutoNum type="arabicParenR"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Reconstructed the extracted watermark image without using the original cover or watermark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5" name="Google Shape;115;g386537c522a_0_15"/>
          <p:cNvCxnSpPr/>
          <p:nvPr/>
        </p:nvCxnSpPr>
        <p:spPr>
          <a:xfrm flipH="1">
            <a:off x="5948825" y="2308825"/>
            <a:ext cx="45300" cy="33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6537c522a_0_1"/>
          <p:cNvSpPr txBox="1"/>
          <p:nvPr>
            <p:ph type="title"/>
          </p:nvPr>
        </p:nvSpPr>
        <p:spPr>
          <a:xfrm>
            <a:off x="725328" y="-20415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22" name="Google Shape;122;g386537c522a_0_1"/>
          <p:cNvSpPr txBox="1"/>
          <p:nvPr>
            <p:ph idx="1" type="body"/>
          </p:nvPr>
        </p:nvSpPr>
        <p:spPr>
          <a:xfrm>
            <a:off x="1187450" y="2719675"/>
            <a:ext cx="1836600" cy="84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00"/>
              <a:t>+</a:t>
            </a:r>
            <a:endParaRPr sz="5000"/>
          </a:p>
        </p:txBody>
      </p:sp>
      <p:sp>
        <p:nvSpPr>
          <p:cNvPr id="123" name="Google Shape;123;g386537c522a_0_1"/>
          <p:cNvSpPr txBox="1"/>
          <p:nvPr>
            <p:ph idx="12" type="sldNum"/>
          </p:nvPr>
        </p:nvSpPr>
        <p:spPr>
          <a:xfrm>
            <a:off x="10869128" y="6291700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24" name="Google Shape;124;g386537c522a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6550" y="1885975"/>
            <a:ext cx="2383676" cy="23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6537c522a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63" y="349213"/>
            <a:ext cx="2308374" cy="23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86537c522a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63" y="3436013"/>
            <a:ext cx="21907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86537c522a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725" y="1562475"/>
            <a:ext cx="3161299" cy="316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6537c522a_0_1"/>
          <p:cNvSpPr/>
          <p:nvPr/>
        </p:nvSpPr>
        <p:spPr>
          <a:xfrm>
            <a:off x="2847650" y="2889125"/>
            <a:ext cx="14508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9" name="Google Shape;129;g386537c522a_0_1"/>
          <p:cNvSpPr/>
          <p:nvPr/>
        </p:nvSpPr>
        <p:spPr>
          <a:xfrm>
            <a:off x="8064300" y="2889113"/>
            <a:ext cx="14508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0" name="Google Shape;130;g386537c522a_0_1"/>
          <p:cNvSpPr txBox="1"/>
          <p:nvPr/>
        </p:nvSpPr>
        <p:spPr>
          <a:xfrm>
            <a:off x="3119025" y="2567950"/>
            <a:ext cx="1052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DCT-based Embedding</a:t>
            </a:r>
            <a:endParaRPr sz="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1" name="Google Shape;131;g386537c522a_0_1"/>
          <p:cNvSpPr txBox="1"/>
          <p:nvPr/>
        </p:nvSpPr>
        <p:spPr>
          <a:xfrm>
            <a:off x="8191625" y="2657575"/>
            <a:ext cx="1052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Blind Extraction</a:t>
            </a:r>
            <a:endParaRPr sz="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6537c522a_0_7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6537c522a_0_76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6537c522a_0_7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40" name="Google Shape;140;g386537c522a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263" y="618950"/>
            <a:ext cx="6780800" cy="43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86537c522a_0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600" y="5011750"/>
            <a:ext cx="6990125" cy="13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537c522a_0_6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86537c522a_0_69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6537c522a_0_6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50" name="Google Shape;150;g386537c522a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450" y="1222613"/>
            <a:ext cx="50673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86537c522a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075" y="4546850"/>
            <a:ext cx="5424899" cy="10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537c522a_0_9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86537c522a_0_90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86537c522a_0_9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60" name="Google Shape;160;g386537c522a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887" y="266700"/>
            <a:ext cx="6712226" cy="55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537c522a_0_25"/>
          <p:cNvSpPr txBox="1"/>
          <p:nvPr>
            <p:ph type="title"/>
          </p:nvPr>
        </p:nvSpPr>
        <p:spPr>
          <a:xfrm>
            <a:off x="838203" y="-3160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7" name="Google Shape;167;g386537c522a_0_25"/>
          <p:cNvSpPr txBox="1"/>
          <p:nvPr>
            <p:ph idx="1" type="body"/>
          </p:nvPr>
        </p:nvSpPr>
        <p:spPr>
          <a:xfrm>
            <a:off x="690477" y="12534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Built a complete blind watermarking system</a:t>
            </a:r>
            <a:endParaRPr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Used DCT frequency-domain embedding</a:t>
            </a:r>
            <a:endParaRPr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Watermark remains invisible</a:t>
            </a:r>
            <a:endParaRPr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Extraction produces clear, identifiable watermarks</a:t>
            </a:r>
            <a:endParaRPr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Created a scalable batch pipeline</a:t>
            </a:r>
            <a:endParaRPr/>
          </a:p>
        </p:txBody>
      </p:sp>
      <p:sp>
        <p:nvSpPr>
          <p:cNvPr id="168" name="Google Shape;168;g386537c522a_0_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6537c522a_0_32"/>
          <p:cNvSpPr txBox="1"/>
          <p:nvPr>
            <p:ph type="title"/>
          </p:nvPr>
        </p:nvSpPr>
        <p:spPr>
          <a:xfrm>
            <a:off x="1087353" y="33392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86537c522a_0_32"/>
          <p:cNvSpPr txBox="1"/>
          <p:nvPr>
            <p:ph idx="1" type="body"/>
          </p:nvPr>
        </p:nvSpPr>
        <p:spPr>
          <a:xfrm>
            <a:off x="838202" y="15922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1) Cox, I. J., Miller, M. L., Bloom, J. A., Fridrich, J., &amp; Kalker, T. (2007). Digital Watermarking and Steganog-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raphy. Morgan Kaufmann.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2) Podilchuk, C. I., &amp; Zeng, W. (1998). Image-adaptive watermarking using visual models. IEEE Journal on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Selected Areas in Communications, 16(4), 525-539.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3) Barni, M., Bartolini, F., &amp; Piva, A. (2001). Improved wavelet-based watermarking through pixel-wise masking.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IEEE Transactions on Image Processing, 10(5), 783-791.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4) Bender, W., Gruhl, D., Morimoto, N., &amp; Lu, A. (1996). Techniques for data hiding. IBM Systems Journal,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35(3.4), 313-336.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5) Hartung, F., &amp; Kutter, M. (1999). Multimedia water- marking techniques. Proceedings of the IEEE, 87(7),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1079-1107.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6) OpenCV Library Documentation. (2023). Open Source Computer Vision Library. https://docs.opencv.org/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6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86537c522a_0_3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